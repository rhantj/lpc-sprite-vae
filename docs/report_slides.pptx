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B97A6"/>
                </a:solidFill>
                <a:latin typeface="Menlo"/>
              </a:rPr>
              <a:t>2026년도 공공기관 용역과제 · AI개발 수행내역서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515600" cy="20116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E8EDF3"/>
                </a:solidFill>
                <a:latin typeface="Apple SD Gothic Neo"/>
              </a:rPr>
              <a:t>AI 기반 2D 캐릭터 </a:t>
            </a:r>
            <a:r>
              <a:rPr sz="4600" b="1">
                <a:solidFill>
                  <a:srgbClr val="FF7A59"/>
                </a:solidFill>
                <a:latin typeface="Apple SD Gothic Neo"/>
              </a:rPr>
              <a:t>스프라이트 생성</a:t>
            </a:r>
          </a:p>
          <a:p>
            <a:pPr algn="l">
              <a:lnSpc>
                <a:spcPct val="100000"/>
              </a:lnSpc>
            </a:pPr>
            <a:r>
              <a:rPr sz="4600" b="1">
                <a:solidFill>
                  <a:srgbClr val="E8EDF3"/>
                </a:solidFill>
                <a:latin typeface="Apple SD Gothic Neo"/>
              </a:rPr>
              <a:t>모델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82296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B97A6"/>
                </a:solidFill>
                <a:latin typeface="Apple SD Gothic Neo"/>
              </a:rPr>
              <a:t>조건부 변분 오토인코더(CVAE)와 레이어 합성 기반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B97A6"/>
                </a:solidFill>
                <a:latin typeface="Apple SD Gothic Neo"/>
              </a:rPr>
              <a:t>픽셀 스프라이트 자동 생성 및 시각화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00600"/>
            <a:ext cx="5669280" cy="14173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4800600"/>
            <a:ext cx="1371600" cy="472440"/>
          </a:xfrm>
          <a:prstGeom prst="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800600"/>
            <a:ext cx="1097280" cy="472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EDF3"/>
                </a:solidFill>
                <a:latin typeface="Apple SD Gothic Neo"/>
              </a:rPr>
              <a:t>과제명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800600"/>
            <a:ext cx="3977639" cy="472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3"/>
                </a:solidFill>
                <a:latin typeface="Apple SD Gothic Neo"/>
              </a:rPr>
              <a:t>AI 기반 캐릭터 스프라이트 생성모델 개발 및 시각화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273040"/>
            <a:ext cx="1371600" cy="472440"/>
          </a:xfrm>
          <a:prstGeom prst="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273040"/>
            <a:ext cx="566928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273040"/>
            <a:ext cx="1097280" cy="472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EDF3"/>
                </a:solidFill>
                <a:latin typeface="Apple SD Gothic Neo"/>
              </a:rPr>
              <a:t>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273040"/>
            <a:ext cx="3977639" cy="472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3"/>
                </a:solidFill>
                <a:latin typeface="Apple SD Gothic Neo"/>
              </a:rPr>
              <a:t>고무서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745480"/>
            <a:ext cx="1371600" cy="472440"/>
          </a:xfrm>
          <a:prstGeom prst="rect">
            <a:avLst/>
          </a:prstGeom>
          <a:solidFill>
            <a:srgbClr val="1C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5745480"/>
            <a:ext cx="566928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745480"/>
            <a:ext cx="1097280" cy="472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EDF3"/>
                </a:solidFill>
                <a:latin typeface="Apple SD Gothic Neo"/>
              </a:rPr>
              <a:t>작성일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745480"/>
            <a:ext cx="3977639" cy="472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8EDF3"/>
                </a:solidFill>
                <a:latin typeface="Apple SD Gothic Neo"/>
              </a:rPr>
              <a:t>2026년 6월 29일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7315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8EDF3"/>
                </a:solidFill>
                <a:latin typeface="Apple SD Gothic Neo"/>
              </a:rPr>
              <a:t>목차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9601200" cy="676656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6400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7A59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148840"/>
            <a:ext cx="548640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3"/>
                </a:solidFill>
                <a:latin typeface="Apple SD Gothic Neo"/>
              </a:rPr>
              <a:t>프로젝트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48840"/>
            <a:ext cx="320040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7A6"/>
                </a:solidFill>
                <a:latin typeface="Apple SD Gothic Neo"/>
              </a:rPr>
              <a:t>추진배경 · 목적 · 과제범위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90088"/>
            <a:ext cx="9601200" cy="676656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990088"/>
            <a:ext cx="6400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7A59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90088"/>
            <a:ext cx="548640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3"/>
                </a:solidFill>
                <a:latin typeface="Apple SD Gothic Neo"/>
              </a:rPr>
              <a:t>데이터 분석 및 전처리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990088"/>
            <a:ext cx="320040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7A6"/>
                </a:solidFill>
                <a:latin typeface="Apple SD Gothic Neo"/>
              </a:rPr>
              <a:t>수집 · 재분류 · 증강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31336"/>
            <a:ext cx="9601200" cy="676656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831336"/>
            <a:ext cx="6400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7A59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31336"/>
            <a:ext cx="548640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3"/>
                </a:solidFill>
                <a:latin typeface="Apple SD Gothic Neo"/>
              </a:rPr>
              <a:t>모델 학습 및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831336"/>
            <a:ext cx="320040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7A6"/>
                </a:solidFill>
                <a:latin typeface="Apple SD Gothic Neo"/>
              </a:rPr>
              <a:t>VAE → CVAE → Perceptual Loss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72584"/>
            <a:ext cx="9601200" cy="676656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672584"/>
            <a:ext cx="6400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7A59"/>
                </a:solidFill>
                <a:latin typeface="Menl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672584"/>
            <a:ext cx="548640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3"/>
                </a:solidFill>
                <a:latin typeface="Apple SD Gothic Neo"/>
              </a:rPr>
              <a:t>결과 시각화 및 평가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672584"/>
            <a:ext cx="320040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7A6"/>
                </a:solidFill>
                <a:latin typeface="Apple SD Gothic Neo"/>
              </a:rPr>
              <a:t>잠재공간 분석 · 레이어 합성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513832"/>
            <a:ext cx="9601200" cy="676656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513832"/>
            <a:ext cx="6400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7A59"/>
                </a:solidFill>
                <a:latin typeface="Menl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513832"/>
            <a:ext cx="548640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3"/>
                </a:solidFill>
                <a:latin typeface="Apple SD Gothic Neo"/>
              </a:rPr>
              <a:t>결론 및 향후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513832"/>
            <a:ext cx="320040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7A6"/>
                </a:solidFill>
                <a:latin typeface="Apple SD Gothic Neo"/>
              </a:rPr>
              <a:t>성과 요약 · 한계 · 개선방향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01 ·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91440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추진 배경 및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56692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8B97A6"/>
                </a:solidFill>
                <a:latin typeface="Apple SD Gothic Neo"/>
              </a:rPr>
              <a:t>게임·콘텐츠 제작에서 캐릭터 스프라이트는 방향·동작·의상별 수백 프레임을 수작업으로 그려야 해 제작 비용이 크다.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74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37560"/>
            <a:ext cx="56692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8B97A6"/>
                </a:solidFill>
                <a:latin typeface="Apple SD Gothic Neo"/>
              </a:rPr>
              <a:t>키워드 조합만으로 일관된 스타일의 스프라이트를 자동 생성할 수 있다면 프로토타이핑·에셋 초안 단계를 효율화할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274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480560"/>
            <a:ext cx="56692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8B97A6"/>
                </a:solidFill>
                <a:latin typeface="Apple SD Gothic Neo"/>
              </a:rPr>
              <a:t>본 과제는 공개 픽셀 스프라이트(LPC)를 학습한 조건부 생성 모델(CVAE)을 구축하고, 레이어 합성으로 조합형 캐릭터를 생성하는 것을 목표로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194560"/>
            <a:ext cx="3931920" cy="2743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2194560"/>
            <a:ext cx="54864" cy="274320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395728"/>
            <a:ext cx="3474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3"/>
                </a:solidFill>
                <a:latin typeface="Apple SD Gothic Neo"/>
              </a:rPr>
              <a:t>핵심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926080"/>
            <a:ext cx="347472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B97A6"/>
                </a:solidFill>
                <a:latin typeface="Apple SD Gothic Neo"/>
              </a:rPr>
              <a:t>키워드(동작·의상·헤어) 입력 → 64×64 RGBA 스프라이트 5개 레이어를 각각 생성 → alpha composite로 합성한 완성 캐릭터를 실시간 제공하는 Streamlit 데모 앱 구현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01 ·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과제 범위 및 추진 프로세스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" cy="274320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3"/>
                </a:solidFill>
                <a:latin typeface="Apple SD Gothic Neo"/>
              </a:rPr>
              <a:t>과제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697480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6"/>
                </a:solidFill>
                <a:latin typeface="Apple SD Gothic Neo"/>
              </a:rPr>
              <a:t>LPC 공개 스프라이트 수집 · 64×64 RGBA 표준화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81528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081528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6"/>
                </a:solidFill>
                <a:latin typeface="Apple SD Gothic Neo"/>
              </a:rPr>
              <a:t>카테고리 재분류 · 데이터 증강 · 키워드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65576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465576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6"/>
                </a:solidFill>
                <a:latin typeface="Apple SD Gothic Neo"/>
              </a:rPr>
              <a:t>VAE → β-VAE → CVAE → CVAE+PL 단계적 모델링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49624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849624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6"/>
                </a:solidFill>
                <a:latin typeface="Apple SD Gothic Neo"/>
              </a:rPr>
              <a:t>잠재공간 시각화 · latent arithmetic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33672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233672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B97A6"/>
                </a:solidFill>
                <a:latin typeface="Apple SD Gothic Neo"/>
              </a:rPr>
              <a:t>레이어 CVAE(86 클래스) 학습 및 합성 앱 구현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011680"/>
            <a:ext cx="4983480" cy="2743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011680"/>
            <a:ext cx="54864" cy="27432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19456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3"/>
                </a:solidFill>
                <a:latin typeface="Apple SD Gothic Neo"/>
              </a:rPr>
              <a:t>구축 방법론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4480560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4FD1C5"/>
                </a:solidFill>
                <a:latin typeface="Apple SD Gothic Neo"/>
              </a:rPr>
              <a:t>TensorFlow ↔ PyTorch 이중 구현</a:t>
            </a:r>
            <a:r>
              <a:rPr sz="1250" b="0">
                <a:solidFill>
                  <a:srgbClr val="8B97A6"/>
                </a:solidFill>
                <a:latin typeface="Apple SD Gothic Neo"/>
              </a:rPr>
              <a:t>으로 동일 아키텍처를 교차 검증.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29000"/>
            <a:ext cx="448056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B97A6"/>
                </a:solidFill>
                <a:latin typeface="Apple SD Gothic Neo"/>
              </a:rPr>
              <a:t>Apple Silicon(Metal/MPS) 환경에서 학습. 각 단계별 결과를 노트북 01~10으로 모듈화하여 재현성 확보.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12064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66944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8EDF3"/>
                </a:solidFill>
                <a:latin typeface="Apple SD Gothic Neo"/>
              </a:rPr>
              <a:t>데이터 수집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32704"/>
            <a:ext cx="18745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Apple SD Gothic Neo"/>
              </a:rPr>
              <a:t>LPC 스프라이트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5496" y="5120640"/>
            <a:ext cx="4572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512064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5266944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8EDF3"/>
                </a:solidFill>
                <a:latin typeface="Apple SD Gothic Neo"/>
              </a:rPr>
              <a:t>전처리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5632704"/>
            <a:ext cx="18745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Apple SD Gothic Neo"/>
              </a:rPr>
              <a:t>64×64·재분류·증강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7216" y="5120640"/>
            <a:ext cx="4572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512064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5266944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8EDF3"/>
                </a:solidFill>
                <a:latin typeface="Apple SD Gothic Neo"/>
              </a:rPr>
              <a:t>모델링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5632704"/>
            <a:ext cx="18745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Apple SD Gothic Neo"/>
              </a:rPr>
              <a:t>VAE→CVAE→PL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8935" y="5120640"/>
            <a:ext cx="4572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59" y="512064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59" y="5266944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8EDF3"/>
                </a:solidFill>
                <a:latin typeface="Apple SD Gothic Neo"/>
              </a:rPr>
              <a:t>생성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59" y="5632704"/>
            <a:ext cx="18745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Apple SD Gothic Neo"/>
              </a:rPr>
              <a:t>조건부 z 샘플링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0655" y="5120640"/>
            <a:ext cx="4572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0" y="5120640"/>
            <a:ext cx="1874519" cy="914400"/>
          </a:xfrm>
          <a:prstGeom prst="roundRect">
            <a:avLst>
              <a:gd name="adj" fmla="val 6000"/>
            </a:avLst>
          </a:prstGeom>
          <a:solidFill>
            <a:srgbClr val="241A16"/>
          </a:solidFill>
          <a:ln w="9525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5266944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8EDF3"/>
                </a:solidFill>
                <a:latin typeface="Apple SD Gothic Neo"/>
              </a:rPr>
              <a:t>레이어 합성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5632704"/>
            <a:ext cx="18745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Apple SD Gothic Neo"/>
              </a:rPr>
              <a:t>완성 캐릭터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02 · 데이터 분석 및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데이터 수집 및 개요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12264"/>
            <a:ext cx="21031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7A59"/>
                </a:solidFill>
                <a:latin typeface="Apple SD Gothic Neo"/>
              </a:rPr>
              <a:t>~285만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42615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7A6"/>
                </a:solidFill>
                <a:latin typeface="Apple SD Gothic Neo"/>
              </a:rPr>
              <a:t>총 프레임 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96596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112264"/>
            <a:ext cx="21031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FD1C5"/>
                </a:solidFill>
                <a:latin typeface="Apple SD Gothic Neo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642615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7A6"/>
                </a:solidFill>
                <a:latin typeface="Apple SD Gothic Neo"/>
              </a:rPr>
              <a:t>카테고리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96596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112264"/>
            <a:ext cx="21031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A78BFA"/>
                </a:solidFill>
                <a:latin typeface="Apple SD Gothic Neo"/>
              </a:rPr>
              <a:t>64×64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642615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7A6"/>
                </a:solidFill>
                <a:latin typeface="Apple SD Gothic Neo"/>
              </a:rPr>
              <a:t>RGBA 해상도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4816" y="196596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3416" y="2112264"/>
            <a:ext cx="21031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8EDF3"/>
                </a:solidFill>
                <a:latin typeface="Apple SD Gothic Neo"/>
              </a:rPr>
              <a:t>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2642615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B97A6"/>
                </a:solidFill>
                <a:latin typeface="Apple SD Gothic Neo"/>
              </a:rPr>
              <a:t>레이어 클래스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246120"/>
            <a:ext cx="6035040" cy="2834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95734" y="3319272"/>
            <a:ext cx="4872371" cy="2414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gu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734" y="3319272"/>
            <a:ext cx="4872371" cy="24140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14400" y="5769864"/>
            <a:ext cx="603504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797296"/>
            <a:ext cx="5760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1 · 원본 데이터셋 카테고리별 분포 (01_dataset_analysis)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383280"/>
            <a:ext cx="393192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8B97A6"/>
                </a:solidFill>
                <a:latin typeface="Apple SD Gothic Neo"/>
              </a:rPr>
              <a:t>출처 · Liberated Pixel Cup(LPC) 공개 픽셀 스프라이트셋. 모든 프레임이 동일한 64×64 RGBA 규격으로 설계되어 레이어 합성에 적합.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846320"/>
            <a:ext cx="393192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8B97A6"/>
                </a:solidFill>
                <a:latin typeface="Apple SD Gothic Neo"/>
              </a:rPr>
              <a:t>구조 · body / torso / legs / feet / hair / hat / wings / tail 등 26개 카테고리. 각 카테고리는 키워드 서브폴더로 세분화하여 fine-grained 레이블을 부여.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02 · 데이터 분석 및 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전처리 및 데이터 품질 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" cy="169164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76272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3"/>
                </a:solidFill>
                <a:latin typeface="Apple SD Gothic Neo"/>
              </a:rPr>
              <a:t>카테고리 재분류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15184"/>
            <a:ext cx="288036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B97A6"/>
                </a:solidFill>
                <a:latin typeface="Apple SD Gothic Neo"/>
              </a:rPr>
              <a:t>body에 혼재된 항목 분리: wings(100,264)·tail(93,590)·wound(2,528), zombie/skeleton(356) 삭제 → 순수 body 2,272장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01168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011680"/>
            <a:ext cx="54864" cy="169164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176272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3"/>
                </a:solidFill>
                <a:latin typeface="Apple SD Gothic Neo"/>
              </a:rPr>
              <a:t>데이터 증강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15184"/>
            <a:ext cx="288036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B97A6"/>
                </a:solidFill>
                <a:latin typeface="Apple SD Gothic Neo"/>
              </a:rPr>
              <a:t>body 좌우반전(FLIP_LEFT_RIGHT)으로 2배 확장 → 4,544장. macOS spawn 충돌 회피 위해 ThreadPoolExecutor 사용.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011680"/>
            <a:ext cx="54864" cy="16916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76272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3"/>
                </a:solidFill>
                <a:latin typeface="Apple SD Gothic Neo"/>
              </a:rPr>
              <a:t>키워드 서브폴더 분리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15184"/>
            <a:ext cx="288036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B97A6"/>
                </a:solidFill>
                <a:latin typeface="Apple SD Gothic Neo"/>
              </a:rPr>
              <a:t>파일명 첫 토큰 기준 분리로 레이블 노이즈 제거. fine-grained 조건 부여 → 86 클래스 확보.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77639"/>
            <a:ext cx="1033272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6110" y="4050791"/>
            <a:ext cx="6109298" cy="1728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gu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110" y="4050791"/>
            <a:ext cx="6109298" cy="17282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14400" y="5815583"/>
            <a:ext cx="1033272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843016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2 · 좌우반전 증강 결과 — 상단 원본 / 하단 반전 (03-1_augment_body)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03 · 모델 학습 및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VAE 아키텍처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874519" cy="502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87451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8EDF3"/>
                </a:solidFill>
                <a:latin typeface="Menlo"/>
              </a:rPr>
              <a:t>입력 64×64×4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2024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79" y="1920240"/>
            <a:ext cx="1874519" cy="502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1920240"/>
            <a:ext cx="187451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8EDF3"/>
                </a:solidFill>
                <a:latin typeface="Menlo"/>
              </a:rPr>
              <a:t>Encoder Conv×4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2024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59" y="1920240"/>
            <a:ext cx="1874519" cy="502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1920240"/>
            <a:ext cx="187451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A78BFA"/>
                </a:solidFill>
                <a:latin typeface="Menlo"/>
              </a:rPr>
              <a:t>z=μ+ε·σ (128d)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192024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920240"/>
            <a:ext cx="1874519" cy="502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920240"/>
            <a:ext cx="187451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8EDF3"/>
                </a:solidFill>
                <a:latin typeface="Menlo"/>
              </a:rPr>
              <a:t>Decoder ConvT×4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59" y="192024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19" y="1920240"/>
            <a:ext cx="1874519" cy="502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1920240"/>
            <a:ext cx="187451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E8EDF3"/>
                </a:solidFill>
                <a:latin typeface="Menlo"/>
              </a:rPr>
              <a:t>복원 64×64×4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560320"/>
            <a:ext cx="4937760" cy="1783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2560320"/>
            <a:ext cx="54864" cy="178308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69748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3"/>
                </a:solidFill>
                <a:latin typeface="Apple SD Gothic Neo"/>
              </a:rPr>
              <a:t>모델 선택 근거 — 왜 VAE인가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127248"/>
            <a:ext cx="448056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4FD1C5"/>
                </a:solidFill>
                <a:latin typeface="Apple SD Gothic Neo"/>
              </a:rPr>
              <a:t>구조화된 잠재공간 · </a:t>
            </a:r>
            <a:r>
              <a:rPr sz="950" b="0">
                <a:solidFill>
                  <a:srgbClr val="8B97A6"/>
                </a:solidFill>
                <a:latin typeface="Apple SD Gothic Neo"/>
              </a:rPr>
              <a:t>연속·정규화된 z를 학습해 잠재공간 보간·latent arithmetic·속성 제어가 가능. 인코더 없는 순수 GAN은 이러한 잠재 조작이 어렵다.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767328"/>
            <a:ext cx="448056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4FD1C5"/>
                </a:solidFill>
                <a:latin typeface="Apple SD Gothic Neo"/>
              </a:rPr>
              <a:t>레이블 조건부 생성 · </a:t>
            </a:r>
            <a:r>
              <a:rPr sz="950" b="0">
                <a:solidFill>
                  <a:srgbClr val="8B97A6"/>
                </a:solidFill>
                <a:latin typeface="Apple SD Gothic Neo"/>
              </a:rPr>
              <a:t>레이블을 주입하는 CVAE로 자연스럽게 확장되어, 동작·의상 키워드 조건부 생성과 레이어 합성을 일관된 구조로 구현.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480560"/>
            <a:ext cx="4937760" cy="16002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61772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3"/>
                </a:solidFill>
                <a:latin typeface="Apple SD Gothic Neo"/>
              </a:rPr>
              <a:t>손실 함수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047488"/>
            <a:ext cx="2011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5047488"/>
            <a:ext cx="420624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E8EDF3"/>
                </a:solidFill>
                <a:latin typeface="Apple SD Gothic Neo"/>
              </a:rPr>
              <a:t>L · </a:t>
            </a:r>
            <a:r>
              <a:rPr sz="950" b="0">
                <a:solidFill>
                  <a:srgbClr val="FF7A59"/>
                </a:solidFill>
                <a:latin typeface="Apple SD Gothic Neo"/>
              </a:rPr>
              <a:t>전체 손실 = Recon + β × KL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376672"/>
            <a:ext cx="2011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5376672"/>
            <a:ext cx="420624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E8EDF3"/>
                </a:solidFill>
                <a:latin typeface="Apple SD Gothic Neo"/>
              </a:rPr>
              <a:t>Recon · </a:t>
            </a:r>
            <a:r>
              <a:rPr sz="950" b="0">
                <a:solidFill>
                  <a:srgbClr val="8B97A6"/>
                </a:solidFill>
                <a:latin typeface="Apple SD Gothic Neo"/>
              </a:rPr>
              <a:t>입력과 복원 이미지의 픽셀 차이 (작을수록 잘 복원)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705856"/>
            <a:ext cx="2011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5705856"/>
            <a:ext cx="420624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E8EDF3"/>
                </a:solidFill>
                <a:latin typeface="Apple SD Gothic Neo"/>
              </a:rPr>
              <a:t>KL · </a:t>
            </a:r>
            <a:r>
              <a:rPr sz="950" b="0">
                <a:solidFill>
                  <a:srgbClr val="8B97A6"/>
                </a:solidFill>
                <a:latin typeface="Apple SD Gothic Neo"/>
              </a:rPr>
              <a:t>잠재분포를 prior N(0,I)에 맞추는 정규화 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2560320"/>
            <a:ext cx="4937760" cy="35204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82512" y="2883628"/>
            <a:ext cx="4791456" cy="25995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883628"/>
            <a:ext cx="4791456" cy="259950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309360" y="5769864"/>
            <a:ext cx="493776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5797296"/>
            <a:ext cx="4663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3 · VAE 랜덤 생성 샘플 32개 — z ~ N(0,I) (04-1)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03 · 모델 학습 및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모델 발전 단계 및 β-VAE 실험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48256"/>
            <a:ext cx="169163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22576"/>
            <a:ext cx="169163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3"/>
                </a:solidFill>
                <a:latin typeface="Apple SD Gothic Neo"/>
              </a:rPr>
              <a:t>VAE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697480"/>
            <a:ext cx="169163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Apple SD Gothic Neo"/>
              </a:rPr>
              <a:t>기본 재구성 (TF+PT)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1920240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2048256"/>
            <a:ext cx="169163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2322576"/>
            <a:ext cx="169163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3"/>
                </a:solidFill>
                <a:latin typeface="Apple SD Gothic Neo"/>
              </a:rPr>
              <a:t>β-VAE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2697480"/>
            <a:ext cx="169163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Apple SD Gothic Neo"/>
              </a:rPr>
              <a:t>β=0.5~4.0 → β=1.0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920240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5" y="2048256"/>
            <a:ext cx="169163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5" y="2322576"/>
            <a:ext cx="169163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3"/>
                </a:solidFill>
                <a:latin typeface="Apple SD Gothic Neo"/>
              </a:rPr>
              <a:t>CVAE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5" y="2697480"/>
            <a:ext cx="169163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Apple SD Gothic Neo"/>
              </a:rPr>
              <a:t>레이블 조건부 생성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68896" y="1920240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142221"/>
          </a:solidFill>
          <a:ln w="952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2048256"/>
            <a:ext cx="169163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322576"/>
            <a:ext cx="169163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D1C5"/>
                </a:solidFill>
                <a:latin typeface="Apple SD Gothic Neo"/>
              </a:rPr>
              <a:t>CVAE + PL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2697480"/>
            <a:ext cx="169163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Apple SD Gothic Neo"/>
              </a:rPr>
              <a:t>Perceptual ★ body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20240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142221"/>
          </a:solidFill>
          <a:ln w="952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2048256"/>
            <a:ext cx="169163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322576"/>
            <a:ext cx="169163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D1C5"/>
                </a:solidFill>
                <a:latin typeface="Apple SD Gothic Neo"/>
              </a:rPr>
              <a:t>Layer CVAE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697480"/>
            <a:ext cx="169163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Apple SD Gothic Neo"/>
              </a:rPr>
              <a:t>86 클래스 ★ 레이어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163824"/>
            <a:ext cx="164592" cy="164592"/>
          </a:xfrm>
          <a:prstGeom prst="roundRect">
            <a:avLst>
              <a:gd name="adj" fmla="val 15000"/>
            </a:avLst>
          </a:prstGeom>
          <a:solidFill>
            <a:srgbClr val="142221"/>
          </a:solidFill>
          <a:ln w="127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3127248"/>
            <a:ext cx="8229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FD1C5"/>
                </a:solidFill>
                <a:latin typeface="Apple SD Gothic Neo"/>
              </a:rPr>
              <a:t>★ 최종 배포 모델</a:t>
            </a:r>
            <a:r>
              <a:rPr sz="900" b="0">
                <a:solidFill>
                  <a:srgbClr val="8B97A6"/>
                </a:solidFill>
                <a:latin typeface="Apple SD Gothic Neo"/>
              </a:rPr>
              <a:t> — Streamlit 앱 적용 (body: CVAE+PL · 레이어: Layer CVAE)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886200"/>
            <a:ext cx="3703320" cy="1783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7552" y="4048242"/>
            <a:ext cx="3557015" cy="11846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048242"/>
            <a:ext cx="3557015" cy="1184674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914400" y="5358384"/>
            <a:ext cx="370332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385816"/>
            <a:ext cx="34290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4-1 · β별 Val Reconstruction / KL Loss (05)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338328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44633" y="3456432"/>
            <a:ext cx="2117972" cy="2688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633" y="3456432"/>
            <a:ext cx="2117972" cy="2688336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846320" y="6181344"/>
            <a:ext cx="251460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10912" y="6208776"/>
            <a:ext cx="22402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4-2 · β별 재구성 품질 (열: β=0.5/1/2/4)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3383280"/>
            <a:ext cx="3566160" cy="1280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80960" y="3383280"/>
            <a:ext cx="54864" cy="12801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35204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3"/>
                </a:solidFill>
                <a:latin typeface="Apple SD Gothic Neo"/>
              </a:rPr>
              <a:t>β란?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931920"/>
            <a:ext cx="315468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B97A6"/>
                </a:solidFill>
                <a:latin typeface="Apple SD Gothic Neo"/>
              </a:rPr>
              <a:t>손실 L = Recon + β×KL에서 KL 항의 가중치. β↑이면 정규화·disentanglement 강화, 재구성 품질은 저하. </a:t>
            </a:r>
            <a:r>
              <a:rPr sz="950" b="1">
                <a:solidFill>
                  <a:srgbClr val="A78BFA"/>
                </a:solidFill>
                <a:latin typeface="Apple SD Gothic Neo"/>
              </a:rPr>
              <a:t>β=1.0은 표준 VAE.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0960" y="4800600"/>
            <a:ext cx="3566160" cy="1280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680960" y="4800600"/>
            <a:ext cx="54864" cy="128016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493776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3"/>
                </a:solidFill>
                <a:latin typeface="Apple SD Gothic Neo"/>
              </a:rPr>
              <a:t>β-VAE 실험 결론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5349240"/>
            <a:ext cx="315468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8B97A6"/>
                </a:solidFill>
                <a:latin typeface="Apple SD Gothic Neo"/>
              </a:rPr>
              <a:t>β를 높일수록 KL이 잠재공간을 과도하게 압축해 디테일이 뭉개짐 → </a:t>
            </a:r>
            <a:r>
              <a:rPr sz="950" b="1">
                <a:solidFill>
                  <a:srgbClr val="FF7A59"/>
                </a:solidFill>
                <a:latin typeface="Apple SD Gothic Neo"/>
              </a:rPr>
              <a:t>β=1.0</a:t>
            </a:r>
            <a:r>
              <a:rPr sz="950" b="0">
                <a:solidFill>
                  <a:srgbClr val="8B97A6"/>
                </a:solidFill>
                <a:latin typeface="Apple SD Gothic Neo"/>
              </a:rPr>
              <a:t>이 최적 복원 품질로 최종 선택.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03 · 핵심 문제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Posterior Collapse 진단 및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93776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EDF3"/>
                </a:solidFill>
                <a:latin typeface="Apple SD Gothic Neo"/>
              </a:rPr>
              <a:t>현상 · </a:t>
            </a:r>
            <a:r>
              <a:rPr sz="1250" b="0">
                <a:solidFill>
                  <a:srgbClr val="8B97A6"/>
                </a:solidFill>
                <a:latin typeface="Apple SD Gothic Neo"/>
              </a:rPr>
              <a:t>어떤 입력을 넣어도 동일한 "평균 이미지" 출력. 인코더가 입력을 무시(kl≈0.001, σ≈1.0).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93776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8EDF3"/>
                </a:solidFill>
                <a:latin typeface="Apple SD Gothic Neo"/>
              </a:rPr>
              <a:t>원인 · </a:t>
            </a:r>
            <a:r>
              <a:rPr sz="1250" b="0">
                <a:solidFill>
                  <a:srgbClr val="8B97A6"/>
                </a:solidFill>
                <a:latin typeface="Apple SD Gothic Neo"/>
              </a:rPr>
              <a:t>MSE는 16,384개 픽셀 평균, KL은 256개 원소 평균 → Recon이 KL보다 </a:t>
            </a:r>
            <a:r>
              <a:rPr sz="1250" b="1">
                <a:solidFill>
                  <a:srgbClr val="FF7A59"/>
                </a:solidFill>
                <a:latin typeface="Apple SD Gothic Neo"/>
              </a:rPr>
              <a:t>~64배</a:t>
            </a:r>
            <a:r>
              <a:rPr sz="1250" b="0">
                <a:solidFill>
                  <a:srgbClr val="8B97A6"/>
                </a:solidFill>
                <a:latin typeface="Apple SD Gothic Neo"/>
              </a:rPr>
              <a:t> 크게 정규화되어 KL이 학습에 기여하지 못함.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94760"/>
            <a:ext cx="4937760" cy="1554480"/>
          </a:xfrm>
          <a:prstGeom prst="roundRect">
            <a:avLst>
              <a:gd name="adj" fmla="val 6000"/>
            </a:avLst>
          </a:prstGeom>
          <a:solidFill>
            <a:srgbClr val="0A0D1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950208"/>
            <a:ext cx="4572000" cy="1371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7A59"/>
                </a:solidFill>
                <a:latin typeface="Menlo"/>
              </a:rPr>
              <a:t>- recon = mse_loss(x̂,x, reduction='mean')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FF7A59"/>
                </a:solidFill>
                <a:latin typeface="Menlo"/>
              </a:rPr>
              <a:t>- kl    = -0.5 * mean(...)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4FD1C5"/>
                </a:solidFill>
                <a:latin typeface="Menlo"/>
              </a:rPr>
              <a:t>+ recon = mse_loss(x̂,x, reduction='sum')/B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4FD1C5"/>
                </a:solidFill>
                <a:latin typeface="Menlo"/>
              </a:rPr>
              <a:t>+ kl    = -0.5 * sum(...)/B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965960"/>
          <a:ext cx="4937760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371600"/>
                <a:gridCol w="13716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지표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수정 전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수정 후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kl_loss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~0.001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35~39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μ 절댓값 평균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~0.02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0.30~0.37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σ 평균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~1.000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0.87~0.96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09360" y="4114800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54864" cy="141732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79392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3"/>
                </a:solidFill>
                <a:latin typeface="Apple SD Gothic Neo"/>
              </a:rPr>
              <a:t>TF ↔ PyTorch 결과 통일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36592"/>
            <a:ext cx="44805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B97A6"/>
                </a:solidFill>
                <a:latin typeface="Apple SD Gothic Neo"/>
              </a:rPr>
              <a:t>BatchNorm momentum(0.99 vs 0.1) 차이로 running stats 갱신 10배 차 → momentum=0.9로 통일. 초기화·padding·LR 단위 차이도 분석·정리.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03 · 모델 학습 및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CVAE 조건부 생성 및 정량 평가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5760720" cy="41605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" y="3075706"/>
            <a:ext cx="5614416" cy="15752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075706"/>
            <a:ext cx="5614416" cy="157526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14400" y="5769864"/>
            <a:ext cx="576072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797296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5-1 · CVAE 재구성 — 상단 원본 / 하단 복원 (08-1_cvae_pytorch)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874519"/>
            <a:ext cx="4297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3"/>
                </a:solidFill>
                <a:latin typeface="Apple SD Gothic Neo"/>
              </a:rPr>
              <a:t>학습 결과 (100 epoch)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995160" y="2331720"/>
          <a:ext cx="4251960" cy="1261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914400"/>
                <a:gridCol w="822960"/>
                <a:gridCol w="7315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구현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val_loss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recon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KL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TensorFlow (β=1.0)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59.47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33.05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21.79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PyTorch (β=1.5)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61.54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33.40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23.49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995160" y="4114800"/>
            <a:ext cx="4251960" cy="19659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4114800"/>
            <a:ext cx="54864" cy="19659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4279392"/>
            <a:ext cx="374903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3"/>
                </a:solidFill>
                <a:latin typeface="Apple SD Gothic Neo"/>
              </a:rPr>
              <a:t>조건부 생성 한계 및 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709160"/>
            <a:ext cx="3749039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A78BFA"/>
                </a:solidFill>
                <a:latin typeface="Apple SD Gothic Neo"/>
              </a:rPr>
              <a:t>잠재공간 구멍(hole) · </a:t>
            </a:r>
            <a:r>
              <a:rPr sz="1000" b="0">
                <a:solidFill>
                  <a:srgbClr val="8B97A6"/>
                </a:solidFill>
                <a:latin typeface="Apple SD Gothic Neo"/>
              </a:rPr>
              <a:t>N(0,I) 순수 샘플링 시 일부 z가 학습분포 밖에 착지해 뭉개짐 → PyTorch β=1.5로 KL 강화해 해소.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5486400"/>
            <a:ext cx="3749039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A78BFA"/>
                </a:solidFill>
                <a:latin typeface="Apple SD Gothic Neo"/>
              </a:rPr>
              <a:t>레이블 반응 미미 · </a:t>
            </a:r>
            <a:r>
              <a:rPr sz="1000" b="0">
                <a:solidFill>
                  <a:srgbClr val="8B97A6"/>
                </a:solidFill>
                <a:latin typeface="Apple SD Gothic Neo"/>
              </a:rPr>
              <a:t>정보 대부분이 z에 담겨 레이블 간 포즈 차이가 작음 → 임베딩 강화·KL 조정 필요.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03 · 모델 학습 및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CVAE + Perceptual Loss 파인튜닝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1033272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E8EDF3"/>
                </a:solidFill>
                <a:latin typeface="Apple SD Gothic Neo"/>
              </a:rPr>
              <a:t>Perceptual Loss란? </a:t>
            </a:r>
            <a:r>
              <a:rPr sz="1050" b="0">
                <a:solidFill>
                  <a:srgbClr val="8B97A6"/>
                </a:solidFill>
                <a:latin typeface="Apple SD Gothic Neo"/>
              </a:rPr>
              <a:t>픽셀 차이(MSE) 대신 사전학습 VGG16의 중간 feature 차이를 비교하는 손실 → 사람이 지각하는 질감·윤곽을 살려 더 또렷하고 자연스러운 복원 유도.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74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011680"/>
            <a:ext cx="45720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6"/>
                </a:solidFill>
                <a:latin typeface="Apple SD Gothic Neo"/>
              </a:rPr>
              <a:t>기존 CVAE 가중치를 불러와 VGG16 perceptual loss를 추가해 50 에폭 파인튜닝(lr 1e-4).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74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743200"/>
            <a:ext cx="45720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6"/>
                </a:solidFill>
                <a:latin typeface="Apple SD Gothic Neo"/>
              </a:rPr>
              <a:t>64×64에 적합한 relu1_2 · relu2_2 얕은 레이어 피처 사용. RGBA→RGB는 흰 배경 합성.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274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74720"/>
            <a:ext cx="45720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B97A6"/>
                </a:solidFill>
                <a:latin typeface="Apple SD Gothic Neo"/>
              </a:rPr>
              <a:t>전처리 스케일 통일(to_vgg_scaled, [0,255] BGR)로 perceptual loss가 실효적으로 작동.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6052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54864" cy="91440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315968"/>
            <a:ext cx="429768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E8EDF3"/>
                </a:solidFill>
                <a:latin typeface="Apple SD Gothic Neo"/>
              </a:rPr>
              <a:t>최종 모델 · </a:t>
            </a:r>
            <a:r>
              <a:rPr sz="1050" b="1">
                <a:solidFill>
                  <a:srgbClr val="FF7A59"/>
                </a:solidFill>
                <a:latin typeface="Apple SD Gothic Neo"/>
              </a:rPr>
              <a:t>PyTorch β=1.5 + Perceptual Loss (λ=1.0)</a:t>
            </a:r>
            <a:r>
              <a:rPr sz="1050" b="0">
                <a:solidFill>
                  <a:srgbClr val="8B97A6"/>
                </a:solidFill>
                <a:latin typeface="Apple SD Gothic Neo"/>
              </a:rPr>
              <a:t> — 복원 품질 우수. checkpoints_cvae_pl_pt/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47548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1">
                <a:solidFill>
                  <a:srgbClr val="8B97A6"/>
                </a:solidFill>
                <a:latin typeface="Apple SD Gothic Neo"/>
              </a:rPr>
              <a:t>to_vgg([0,1])는 perceptual 값이 MSE 대비 미미(~4)해 무효. to_vgg_scaled([0,255] BGR, TF 방식)로 스케일을 통일해야 강하게 작동(~수만).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828800"/>
            <a:ext cx="52120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3"/>
                </a:solidFill>
                <a:latin typeface="Apple SD Gothic Neo"/>
              </a:rPr>
              <a:t>lambda 튜닝 실험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35040" y="2286000"/>
          <a:ext cx="521208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146304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lambda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전처리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결과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0.05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to_vgg [0,1]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MSE 대비 0.6% — 시각차 없음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0.5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to_vgg [0,1]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MSE 대비 6% — 시각차 없음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7A59"/>
                          </a:solidFill>
                          <a:latin typeface="Apple SD Gothic Neo"/>
                        </a:rPr>
                        <a:t>1.0</a:t>
                      </a:r>
                    </a:p>
                  </a:txBody>
                  <a:tcPr marL="109728" marR="73152" marT="27432" marB="27432" anchor="ctr">
                    <a:solidFill>
                      <a:srgbClr val="2A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DF3"/>
                          </a:solidFill>
                          <a:latin typeface="Apple SD Gothic Neo"/>
                        </a:rPr>
                        <a:t>to_vgg_scaled</a:t>
                      </a:r>
                    </a:p>
                  </a:txBody>
                  <a:tcPr marL="109728" marR="73152" marT="27432" marB="27432" anchor="ctr">
                    <a:solidFill>
                      <a:srgbClr val="2A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DF3"/>
                          </a:solidFill>
                          <a:latin typeface="Apple SD Gothic Neo"/>
                        </a:rPr>
                        <a:t>TF 0.05와 동등 — 최종 적용</a:t>
                      </a:r>
                    </a:p>
                  </a:txBody>
                  <a:tcPr marL="109728" marR="73152" marT="27432" marB="27432" anchor="ctr">
                    <a:solidFill>
                      <a:srgbClr val="2A201C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035040" y="4114800"/>
            <a:ext cx="5212080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64383" y="4187952"/>
            <a:ext cx="4353393" cy="1819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constru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83" y="4187952"/>
            <a:ext cx="4353393" cy="181965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035040" y="6044184"/>
            <a:ext cx="521208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6071616"/>
            <a:ext cx="4937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5-2 · Base vs Perceptual CVAE 재구성 — 상단 원본 / 중단 Base / 하단 Perceptual (09-1)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04 · 결과 시각화 및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잠재공간 시각화 — VAE vs CVAE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5074920" cy="2194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0367" y="1856231"/>
            <a:ext cx="4622984" cy="1773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367" y="1856231"/>
            <a:ext cx="4622984" cy="17739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14400" y="3666744"/>
            <a:ext cx="507492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694176"/>
            <a:ext cx="4800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6 · VAE 잠재공간 PCA — 클러스터 미분리 (07)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074920" cy="2194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98167" y="1856231"/>
            <a:ext cx="4622984" cy="1773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ur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167" y="1856231"/>
            <a:ext cx="4622984" cy="17739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3666744"/>
            <a:ext cx="507492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94176"/>
            <a:ext cx="4800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7 · CVAE 잠재공간 PCA — 동일하게 미분리 (07-1)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3327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B97A6"/>
                </a:solidFill>
                <a:latin typeface="Apple SD Gothic Neo"/>
              </a:rPr>
              <a:t>PCA·t-SNE·UMAP 모두 캐릭터/액션 라벨로 색칠해도 뚜렷한 분리가 없음 — 레이블 없이 비지도로 학습해 의미 속성이 자동 정렬된다는 보장이 없기 때문. CVAE는 z가 "레이블로 설명 안 되는 나머지 정보"만 담아 std가 전반적으로 더 낮음(전체 0.32 &lt; VAE 0.36).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04 · 결과 시각화 및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3"/>
                </a:solidFill>
                <a:latin typeface="Apple SD Gothic Neo"/>
              </a:rPr>
              <a:t>Latent Space Arithmetic — 기본 산술 · 속성 이식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5074920" cy="2788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" y="2314404"/>
            <a:ext cx="4928616" cy="15433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314404"/>
            <a:ext cx="4928616" cy="154339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14400" y="4306824"/>
            <a:ext cx="507492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334256"/>
            <a:ext cx="4800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8 · 기본 산술 z(A) − z(B) + z(C) (06-1)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074920" cy="2788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55478" y="1901952"/>
            <a:ext cx="2908363" cy="2368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ur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478" y="1901952"/>
            <a:ext cx="2908363" cy="236829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4306824"/>
            <a:ext cx="507492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4334256"/>
            <a:ext cx="4800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9 · 속성 이식 z + α×방향벡터 (α = −2 ~ +2) (06-1)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46320"/>
            <a:ext cx="10332720" cy="1508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846320"/>
            <a:ext cx="54864" cy="15087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074920"/>
            <a:ext cx="228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78BFA"/>
                </a:solidFill>
                <a:latin typeface="Apple SD Gothic Neo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074920"/>
            <a:ext cx="950976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E8EDF3"/>
                </a:solidFill>
                <a:latin typeface="Apple SD Gothic Neo"/>
              </a:rPr>
              <a:t>방향 벡터 추출 · </a:t>
            </a:r>
            <a:r>
              <a:rPr sz="1100" b="0">
                <a:solidFill>
                  <a:srgbClr val="8B97A6"/>
                </a:solidFill>
                <a:latin typeface="Apple SD Gothic Neo"/>
              </a:rPr>
              <a:t>파일명 키워드로 두 그룹을 나눠 mean(z_A) − mean(z_B)로 속성 방향을 구함.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78424"/>
            <a:ext cx="228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78BFA"/>
                </a:solidFill>
                <a:latin typeface="Apple SD Gothic Neo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678424"/>
            <a:ext cx="950976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E8EDF3"/>
                </a:solidFill>
                <a:latin typeface="Apple SD Gothic Neo"/>
              </a:rPr>
              <a:t>속성 이식 · </a:t>
            </a:r>
            <a:r>
              <a:rPr sz="1100" b="0">
                <a:solidFill>
                  <a:srgbClr val="8B97A6"/>
                </a:solidFill>
                <a:latin typeface="Apple SD Gothic Neo"/>
              </a:rPr>
              <a:t>z + α×방향벡터로 α 부호에 따라 속성이 전이. α가 과대(±2)하면 잠재공간 유효범위를 벗어나 디코더 출력이 뭉개짐 → 0.5~1.0부터 점진 증가가 적절.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04 · 결과 시각화 및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레이어 CVAE 학습 및 생성 결과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4752" y="1691640"/>
            <a:ext cx="9299448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57755" y="1764792"/>
            <a:ext cx="8473440" cy="1271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04_conditional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55" y="1764792"/>
            <a:ext cx="8473440" cy="127101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44752" y="3072384"/>
            <a:ext cx="9299448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9344" y="3099816"/>
            <a:ext cx="902512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10 · 동일 z, 키워드 레이블별 조건부 생성 (torso/legs/feet/hair) —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4752" y="3520440"/>
            <a:ext cx="457200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4228" y="3593592"/>
            <a:ext cx="3813048" cy="1271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ure_03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228" y="3593592"/>
            <a:ext cx="3813048" cy="12710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444752" y="4901184"/>
            <a:ext cx="457200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9344" y="4928616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11 · 레이어별 복원 — 상단 원본 / 하단 복원 (10)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520440"/>
            <a:ext cx="457200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60820" y="3593592"/>
            <a:ext cx="3813048" cy="1271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ure_02_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3593592"/>
            <a:ext cx="3813048" cy="12710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81344" y="4901184"/>
            <a:ext cx="457200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4928616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12 · 레이어 CVAE 학습 곡선 — Total / Recon·KL (10)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444752" y="5257800"/>
          <a:ext cx="4572000" cy="1234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463040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지표 (최종 epoch)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값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7A59"/>
                          </a:solidFill>
                          <a:latin typeface="Apple SD Gothic Neo"/>
                        </a:rPr>
                        <a:t>Total Loss · train</a:t>
                      </a:r>
                    </a:p>
                  </a:txBody>
                  <a:tcPr marL="109728" marR="73152" marT="27432" marB="27432" anchor="ctr">
                    <a:solidFill>
                      <a:srgbClr val="2A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E8EDF3"/>
                          </a:solidFill>
                          <a:latin typeface="Apple SD Gothic Neo"/>
                        </a:rPr>
                        <a:t>37.30</a:t>
                      </a:r>
                    </a:p>
                  </a:txBody>
                  <a:tcPr marL="109728" marR="73152" marT="27432" marB="27432" anchor="ctr">
                    <a:solidFill>
                      <a:srgbClr val="2A201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Total Loss · val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39.35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Reconstruction (train)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21.40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KL Divergence (train)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10.60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355080" y="5303520"/>
            <a:ext cx="438912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1">
                <a:solidFill>
                  <a:srgbClr val="8B97A6"/>
                </a:solidFill>
                <a:latin typeface="Apple SD Gothic Neo"/>
              </a:rPr>
              <a:t>L = Recon + β·KL = 21.40 + 1.5×10.60 ≈ 37.30 (β=1.5 확인). 검증은 total loss만 기록(recon·KL 분해 미기록). 86 클래스(torso 7 + legs 12 + feet 8 + hair 59) 단일 CVAE · 100 epoch · max_per_class=2000.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04 · 결과 시각화 및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최종 결과 — 레이어 합성 캐릭터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6126480" cy="41605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128" y="2029968"/>
            <a:ext cx="5907024" cy="3666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ac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988564"/>
            <a:ext cx="1749552" cy="1749552"/>
          </a:xfrm>
          <a:prstGeom prst="rect">
            <a:avLst/>
          </a:prstGeom>
        </p:spPr>
      </p:pic>
      <p:pic>
        <p:nvPicPr>
          <p:cNvPr id="10" name="Picture 9" descr="character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864" y="2988564"/>
            <a:ext cx="1749552" cy="1749552"/>
          </a:xfrm>
          <a:prstGeom prst="rect">
            <a:avLst/>
          </a:prstGeom>
        </p:spPr>
      </p:pic>
      <p:pic>
        <p:nvPicPr>
          <p:cNvPr id="11" name="Picture 10" descr="character (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872" y="2988564"/>
            <a:ext cx="1749552" cy="174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14400" y="5769864"/>
            <a:ext cx="6126480" cy="10972"/>
          </a:xfrm>
          <a:prstGeom prst="rect">
            <a:avLst/>
          </a:prstGeom>
          <a:solidFill>
            <a:srgbClr val="2A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797296"/>
            <a:ext cx="58521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7A6"/>
                </a:solidFill>
                <a:latin typeface="Menlo"/>
              </a:rPr>
              <a:t>그림 13 · 최종 합성 캐릭터 3종 (streamlit_sprite.py) — z 샘플링에 따른 색상·스타일 다양성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65960"/>
            <a:ext cx="3840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8B97A6"/>
                </a:solidFill>
                <a:latin typeface="Apple SD Gothic Neo"/>
              </a:rPr>
              <a:t>키워드를 조합해 5개 레이어를 각각 CVAE로 순수 생성(원본 미사용)한 뒤 alpha composite로 합성.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063240"/>
            <a:ext cx="603504" cy="365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063240"/>
            <a:ext cx="60350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E8EDF3"/>
                </a:solidFill>
                <a:latin typeface="Menlo"/>
              </a:rPr>
              <a:t>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3063240"/>
            <a:ext cx="182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3" y="3063240"/>
            <a:ext cx="603504" cy="365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3063240"/>
            <a:ext cx="60350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E8EDF3"/>
                </a:solidFill>
                <a:latin typeface="Menlo"/>
              </a:rPr>
              <a:t>legs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3063240"/>
            <a:ext cx="182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7" y="3063240"/>
            <a:ext cx="603504" cy="365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7" y="3063240"/>
            <a:ext cx="60350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E8EDF3"/>
                </a:solidFill>
                <a:latin typeface="Menlo"/>
              </a:rPr>
              <a:t>feet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1" y="3063240"/>
            <a:ext cx="182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65791" y="3063240"/>
            <a:ext cx="603504" cy="365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5791" y="3063240"/>
            <a:ext cx="60350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E8EDF3"/>
                </a:solidFill>
                <a:latin typeface="Menlo"/>
              </a:rPr>
              <a:t>torso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9295" y="3063240"/>
            <a:ext cx="182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7A59"/>
                </a:solidFill>
                <a:latin typeface="Apple SD Gothic Neo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52175" y="3063240"/>
            <a:ext cx="603504" cy="3657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52175" y="3063240"/>
            <a:ext cx="60350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E8EDF3"/>
                </a:solidFill>
                <a:latin typeface="Menlo"/>
              </a:rPr>
              <a:t>hair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749039"/>
            <a:ext cx="3840480" cy="2331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3749039"/>
            <a:ext cx="54864" cy="233172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3931920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EDF3"/>
                </a:solidFill>
                <a:latin typeface="Apple SD Gothic Neo"/>
              </a:rPr>
              <a:t>생성 흐름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389120"/>
            <a:ext cx="3383280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B97A6"/>
                </a:solidFill>
                <a:latin typeface="Apple SD Gothic Neo"/>
              </a:rPr>
              <a:t>각 레이어 CVAE decoder에 z ~ N(0,I) + 레이블 → 64×64 RGBA 생성 → 레이어 순서대로 PIL alpha_composite → 256×256 nearest-neighbor 업스케일 표시. Generate마다 새 z → 같은 키워드도 다른 색상·스타일.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30936"/>
            <a:ext cx="292608" cy="2560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8448" y="493776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7A59"/>
                </a:solidFill>
                <a:latin typeface="Menlo"/>
              </a:rPr>
              <a:t>05 · 결론 및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55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2A323D"/>
                </a:solidFill>
                <a:latin typeface="Menlo"/>
              </a:rPr>
              <a:t>LPC SPRITE VAE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355080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97A6"/>
                </a:solidFill>
                <a:latin typeface="Menlo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3"/>
                </a:solidFill>
                <a:latin typeface="Apple SD Gothic Neo"/>
              </a:rPr>
              <a:t>결론 및 향후 계획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502920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54864" cy="169164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3"/>
                </a:solidFill>
                <a:latin typeface="Apple SD Gothic Neo"/>
              </a:rPr>
              <a:t>성과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51760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51760"/>
            <a:ext cx="4297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6"/>
                </a:solidFill>
                <a:latin typeface="Apple SD Gothic Neo"/>
              </a:rPr>
              <a:t>VAE→CVAE+PL 단계적 개선으로 조건부 스프라이트 생성 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99232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99232"/>
            <a:ext cx="4297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6"/>
                </a:solidFill>
                <a:latin typeface="Apple SD Gothic Neo"/>
              </a:rPr>
              <a:t>TF/PyTorch 이중 구현 교차검증 · posterior collapse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46703"/>
            <a:ext cx="228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7A59"/>
                </a:solidFill>
                <a:latin typeface="Apple SD Gothic Neo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46703"/>
            <a:ext cx="4297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B97A6"/>
                </a:solidFill>
                <a:latin typeface="Apple SD Gothic Neo"/>
              </a:rPr>
              <a:t>86 클래스 레이어 CVAE + 합성 앱으로 조합형 캐릭터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011680"/>
            <a:ext cx="4983480" cy="16916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9525">
            <a:solidFill>
              <a:srgbClr val="2A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54864" cy="169164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3"/>
                </a:solidFill>
                <a:latin typeface="Apple SD Gothic Neo"/>
              </a:rPr>
              <a:t>실무 적용 방안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80"/>
            <a:ext cx="448056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B97A6"/>
                </a:solidFill>
                <a:latin typeface="Apple SD Gothic Neo"/>
              </a:rPr>
              <a:t>게임 프로토타이핑·에셋 초안 자동화. 키워드 기반 캐릭터 변형으로 디자인 탐색 단계의 반복 비용 절감.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DF3"/>
                </a:solidFill>
                <a:latin typeface="Apple SD Gothic Neo"/>
              </a:rPr>
              <a:t>한계점 → 개선 방향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14400" y="4434840"/>
          <a:ext cx="103327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/>
                <a:gridCol w="5394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한계점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7A59"/>
                          </a:solidFill>
                          <a:latin typeface="Menlo"/>
                        </a:rPr>
                        <a:t>개선 방향</a:t>
                      </a:r>
                    </a:p>
                  </a:txBody>
                  <a:tcPr marL="109728" marR="73152" marT="27432" marB="27432" anchor="ctr">
                    <a:solidFill>
                      <a:srgbClr val="1C232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64×64 저해상도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고해상도 / Diffusion 모델 확장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정량 생성 품질 지표 미적용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FID · IS 등 정량 지표 도입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레이블 반응 미미 (정보가 z에 집중)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레이블 임베딩 강화 · KL 가중치 조정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일부 레이어 클래스 데이터 불균형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8B97A6"/>
                          </a:solidFill>
                          <a:latin typeface="Apple SD Gothic Neo"/>
                        </a:rPr>
                        <a:t>데이터 확충 · class-balanced 샘플링</a:t>
                      </a:r>
                    </a:p>
                  </a:txBody>
                  <a:tcPr marL="109728" marR="73152" marT="27432" marB="27432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